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0" cy="73152"/>
          </a:xfrm>
          <a:prstGeom prst="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Project 1C: Cross-Sectional Ranking &amp; Propensity Engine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Institutional Equity Selection for Long-Only Indian Mutual Funds</a:t>
            </a:r>
            <a:br/>
            <a:br/>
            <a:r>
              <a:t>Tarun Kumar Das | Quantitative Analyst</a:t>
            </a:r>
            <a:br/>
            <a:r>
              <a:t>Zetheta Algorithms Private Limited (CIN: U62012MH2023PTC410415)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CORE THESIS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Direction over magnitude; replacing unstable price-level predictions with relative cross-sectional ranking.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THE INNOVATION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A single unified learning-to-rank model delivering both a conviction-ordered rank and a calibrated out-performance propensity.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EMPIRICAL PROOF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Achieved an institutional-grade Mean Rank IC of 0.1602, t-statistic of 22.68, and a 5.83% gross monthly long-short spread.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Industry Backdrop &amp; AUM Dynamics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AUM EXPANSION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Indian mutual fund AUM crossed ₹70 lakh crore, with equity schemes accounting for over 60% of net inflows.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STRUCTURAL FLOWS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Monthly Systematic Investment Plan (SIP) inflows exceeding ₹26,000 crore establish a price-insensitive market floor.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ALPHA COMPRESSION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SPIVA scorecards show active large-cap underperformance, raising the bar for measurable, evidence-based selection skill.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Regulatory Constraints &amp; SEBI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SCHEME CATEGORISATION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Fixed investment universes (Oct 2017) require strict cross-sectional ranking within defined peer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STRESS TESTING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Mandatory tradeability and impact-cost filters ensure shortlists respect liquidity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AI/ML GOVERNANCE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Fulfils regulatory demands for explainable, auditable models with immutable data lineage.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The Selection Problem: Why Magnitude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SIGNAL-TO-NOISE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Individual stock returns over multi-month horizons are dominated by noise; point forecasts are fundamentally unlearnable.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NON-STATIONARITY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Shifting market regimes break absolute return models as the scale of volatility moves with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THE DISCRIMINATION REFRAME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Asking 'which names beat the median?' creates a tractable classification target with a clean loss function.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Survivorship-Safe Universe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POINT-IN-TIME INTEGRITY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Reconstructed historical index membership (Nifty 500 equivalent) to completely eliminate survivorship bias.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LOOK-AHEAD PREVENTION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Strict time-stamping of fundamental data availability dates ensures zero leakage from future filings.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DATA HYGIENE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Automated anomaly checks for corporate actions, split adjustments, and stale data points.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Multi-Factor 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SIX CORE FAMILIES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Value, Momentum (12-1m, 3m), Quality (ROE, accruals), Growth/Revisions, Low-Risk (idio-vol), and Flow/Microstructure.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CROSS-SECTIONAL Z-SCORING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Robust standardisation and winsorisation (±3 MAD) applied independently on each rebalance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FACTOR NEUTRALISATION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Regression-based removal of sector and size tilts to isolate pure, uncompromised factor alpha.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Forward Relative Return Labelling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POINT-IN-TIME TARGETS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21-day forward relative returns evaluated strictly against the cross-sectional median of eligible peers.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BINARY CLASSIFICATION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Clean out-performance mapping (y in {0, 1}) that strips out broad market beta.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TEMPORAL SEPARATION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Absolute enforcement of boundaries between feature construction windows and future return labels.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Baseline Composite &amp; Fama-MacBeth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LINEAR BASELINE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Weighted z-score composite serving as the foundational benchmark for model complexity.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FAMA-MACBETH REGRESSIONS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Per-date cross-sectional regressions validating factor premia stability and t-statistics.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INITIAL VALIDATION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Established positive baseline rank correlation before introducing non-linear machine learning.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LightGBM LambdaMART Ranking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LISTWISE OPTIMISATION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Direct ranking loss (NDCG) targeting the top of the list where active portfolios consume alpha.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MODEL CONFIGURATION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Tuned hyperparameters (learning rate 0.03, feature fraction 0.7) structured across date-grouped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TIME-AWARE CV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Purged and embargoed cross-validation ensuring training never peeks into validation periods.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Probability Calibration &amp; Propensities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ISOTONIC MAPPING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Correcting gradient booster over-confidence via post-hoc isotonic regression on a held-out calibration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RELIABILITY DIAGNOSTICS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Achieved low Expected Calibration Error (ECE), aligning predicted probabilities with true win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SINGLE-ENGINE DESIGN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One model providing both the conviction rank and the trustworthy out-performance propensity.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Conformal Selection Wrappers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FINITE-SAMPLE GUARANTEES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Split-conformal and Mondrian sector-conditional wrappers establishing rigorous error bounds.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DYNAMIC SHORTLISTING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Adaptive admission thresholds that automatically adjust when market volatility or sector dispersion spikes.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Information Coefficient (IC)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QUANTIFYING SKILL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Delivered an out-of-sample Mean Rank IC of 0.1602, proving robust cross-sectional discrimination.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STATISTICAL SIGNIFICANCE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Robust IC-IR of 1.0033, t-statistic of 22.68, and an 83.37% directional hit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HORIZON DECAY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Multi-horizon IC decay profiling confirming an optimal 21-day portfolio rebalance frequency.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Portfolio Overlay &amp; Decile Backtest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MONOTONIC PROGRESSION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Clean return progression from Decile 1 (-1.66%) to Decile 10 (+4.17%).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GROSS LONG-SHORT SPREAD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Robust 5.83% monthly spread generated per 21-day rebalance cycle.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FRICTION BUDGET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Incorporated realistic Indian transaction costs (brokerage, STT, stamp duty) and turnover caps.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Name-Level Explainability via SHAP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ATTRIBUTION TRANSPARENCY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Decomposing individual stock scores into specific, auditable feature contributions.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INVESTMENT COMMITTEE READY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Answering 'Why is this stock ranked high today?' with clear, defensible factor narratives.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Governance, Audit &amp; Lineage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MODEL CARDS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Standardised documentation detailing training scopes, features, hyperparameters, and known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IMMUTABLE AUDIT LOGS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Hash-chained execution records and CloudTrail validation ensuring absolute reproducibility.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43"/>
                </a:solidFill>
              </a:defRPr>
            </a:pPr>
            <a:r>
              <a:t>Key Findings &amp; Institutional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ARCHITECTURAL SUPERIORITY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Ranking-based models cleanly bypass the noise traps of price-magnitude forecasting.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36391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DEFENSIBLE COMPLIANCE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Point-in-time stores and conformal wrappers provide regulator-grade transparency.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26864"/>
            <a:ext cx="10725912" cy="13258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601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69E2E"/>
                </a:solidFill>
              </a:defRPr>
            </a:pPr>
            <a:r>
              <a:t>COMPOUNDING ALPHA</a:t>
            </a:r>
          </a:p>
          <a:p>
            <a:pPr>
              <a:defRPr sz="1500">
                <a:solidFill>
                  <a:srgbClr val="4A5568"/>
                </a:solidFill>
              </a:defRPr>
            </a:pPr>
            <a:r>
              <a:t>Measurable Information Coefficient successfully translates quantitative research into fiduciary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0" cy="73152"/>
          </a:xfrm>
          <a:prstGeom prst="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Conclusion &amp; Q&amp;A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Open for Investment Committee Review &amp; Final Sign-Off.</a:t>
            </a:r>
            <a:br/>
            <a:br/>
            <a:r>
              <a:t>Repository Handoff Target: @ZethetaIntern</a:t>
            </a:r>
            <a:br/>
            <a:r>
              <a:t>Zetheta Algorithms Private Limited (CIN: U62012MH2023PTC410415)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Strictly Private and Confidential | Zetheta Algorithms Private Limited | CIN: U62012MH2023PTC410415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